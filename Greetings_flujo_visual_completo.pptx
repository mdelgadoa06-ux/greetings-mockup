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ptos"/>
              </a:rPr>
              <a:t>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4532D"/>
                </a:solidFill>
                <a:latin typeface="Aptos"/>
              </a:rPr>
              <a:t>Greetings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Aptos"/>
              </a:rPr>
              <a:t>Flujo visual completo para creación del software de servicio.
Inicio orientado al administrador.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737360" cy="420624"/>
          </a:xfrm>
          <a:prstGeom prst="roundRect">
            <a:avLst/>
          </a:prstGeom>
          <a:solidFill>
            <a:srgbClr val="16653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8252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Inicio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331720"/>
            <a:ext cx="2103120" cy="420624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382520"/>
            <a:ext cx="2103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3 módulos integrados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331720"/>
            <a:ext cx="2194560" cy="420624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382520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Aptos"/>
              </a:rPr>
              <a:t>Sin gradientes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685800"/>
            <a:ext cx="365760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914400"/>
            <a:ext cx="2926080" cy="5486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0515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Perfil: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2743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37944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01  Carga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0312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POS, productividad y pulsos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70632"/>
            <a:ext cx="2743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91693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02  Visualización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18211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Sedes, departamentos y empleados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849624"/>
            <a:ext cx="2743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995928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03  Modelo predictivo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261104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Riesgo de salida y alertas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Aptos"/>
              </a:rPr>
              <a:t>Objetivo del deck:
• servir como insumo visual para construir la app
• dejar claro el flujo de navegación
• mostrar los tres módulos completos, incluyendo pulsos por WhatsApp y el modelo predictivo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2648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Formato 16:9 editable en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Flujo visual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Recorrido propuesto desde el inicio del administrador hasta el análisis predictivo. Transición fluida tipo zoom, sin cortes bruscos.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Pantalla de entrada
con CTA principal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971800"/>
            <a:ext cx="228600" cy="0"/>
          </a:xfrm>
          <a:prstGeom prst="line">
            <a:avLst/>
          </a:prstGeom>
          <a:ln w="2286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06039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828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79" y="19659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204825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871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Vista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0779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Tres módulos clicables
para profundizar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7720" y="2971800"/>
            <a:ext cx="228600" cy="0"/>
          </a:xfrm>
          <a:prstGeom prst="line">
            <a:avLst/>
          </a:prstGeom>
          <a:ln w="2286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634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828800"/>
            <a:ext cx="1828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83480" y="19659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04825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871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Carga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0779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POS + productividad +
pulsos por WhatsApp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2971800"/>
            <a:ext cx="228600" cy="0"/>
          </a:xfrm>
          <a:prstGeom prst="line">
            <a:avLst/>
          </a:prstGeom>
          <a:ln w="2286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208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1828800"/>
            <a:ext cx="1828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80" y="19659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04825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4871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Visualización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90779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Sede / departamento /
empleado + CTA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32520" y="2971800"/>
            <a:ext cx="228600" cy="0"/>
          </a:xfrm>
          <a:prstGeom prst="line">
            <a:avLst/>
          </a:prstGeom>
          <a:ln w="2286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1828800"/>
            <a:ext cx="1828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8280" y="19659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204825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4871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Modelo predictivo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907792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Probabilidad de salida
+ alertas + acciones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754880"/>
            <a:ext cx="109728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83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ptos"/>
              </a:rPr>
              <a:t>Reglas del flujo:
1. El administrador no entra viendo todo el análisis desde el comienzo; primero ve inicio y mapa de módulos.
2. Cada módulo profundiza el nivel anterior sin romper contexto.
3. La navegación analítica siempre escala por jerarquía: sede → departamento → empleado.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Pantallas iniciales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2120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Aptos"/>
              </a:rPr>
              <a:t>A different perspective starts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4532D"/>
                </a:solidFill>
                <a:latin typeface="Aptos"/>
              </a:rPr>
              <a:t>greetings.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Aptos"/>
              </a:rPr>
              <a:t>Follow your curiosity.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429000"/>
            <a:ext cx="2468880" cy="530352"/>
          </a:xfrm>
          <a:prstGeom prst="roundRect">
            <a:avLst/>
          </a:prstGeom>
          <a:solidFill>
            <a:srgbClr val="16653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479800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Step inside  →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4709160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791456"/>
            <a:ext cx="34747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4532D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868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DATA UPLOAD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4709160"/>
            <a:ext cx="347472" cy="34747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791456"/>
            <a:ext cx="34747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5138928"/>
            <a:ext cx="868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VISUALIZATION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160520" y="4709160"/>
            <a:ext cx="347472" cy="34747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791456"/>
            <a:ext cx="34747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138928"/>
            <a:ext cx="868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PREDICTIVE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005840"/>
            <a:ext cx="52578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3258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4532D"/>
                </a:solidFill>
                <a:latin typeface="Aptos"/>
              </a:rPr>
              <a:t>Explora el flujo de Greetings.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7190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Tres módulos. Un mismo sistema para convertir datos en decisiones.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240280"/>
            <a:ext cx="13258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2359152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414016"/>
            <a:ext cx="25603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4532D"/>
                </a:solidFill>
                <a:latin typeface="Aptos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788920"/>
            <a:ext cx="868680" cy="594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611880"/>
            <a:ext cx="1024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Carga de datos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224528"/>
            <a:ext cx="777240" cy="29260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275328"/>
            <a:ext cx="777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240280"/>
            <a:ext cx="13258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21040" y="2359152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414016"/>
            <a:ext cx="25603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4532D"/>
                </a:solidFill>
                <a:latin typeface="Aptos"/>
              </a:rP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788920"/>
            <a:ext cx="868680" cy="594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611880"/>
            <a:ext cx="1024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Visualización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4224528"/>
            <a:ext cx="777240" cy="29260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275328"/>
            <a:ext cx="777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2240280"/>
            <a:ext cx="13258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2359152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2414016"/>
            <a:ext cx="25603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4532D"/>
                </a:solidFill>
                <a:latin typeface="Apto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2788920"/>
            <a:ext cx="868680" cy="594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3611880"/>
            <a:ext cx="1024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Modelo predictivo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4224528"/>
            <a:ext cx="777240" cy="29260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4275328"/>
            <a:ext cx="777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532D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4846320"/>
            <a:ext cx="443484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50749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En esta vista el usuario entiende la arquitectura del sistema y hace clic en el módulo que quiere profundizar.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Módulo 1 · Carga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Conecta o carga la información en un solo lugar.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758952"/>
            <a:ext cx="1965960" cy="384048"/>
          </a:xfrm>
          <a:prstGeom prst="roundRect">
            <a:avLst/>
          </a:prstGeom>
          <a:solidFill>
            <a:srgbClr val="16653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809752"/>
            <a:ext cx="1965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Integración automática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758952"/>
            <a:ext cx="1554480" cy="384048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80975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Aptos"/>
              </a:rPr>
              <a:t>Carga 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Registros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Conecta sistema POS y trae ventas, turnos y empleados.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Información de productividad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Importa métricas de productividad, asistencia y desempeño.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"/>
              </a:rPr>
              <a:t>Pulsos por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Encuestas muy cortas para tomar el pulso del equipo.</a:t>
            </a:r>
          </a:p>
        </p:txBody>
      </p:sp>
      <p:sp>
        <p:nvSpPr>
          <p:cNvPr id="17" name="Oval 16"/>
          <p:cNvSpPr/>
          <p:nvPr/>
        </p:nvSpPr>
        <p:spPr>
          <a:xfrm>
            <a:off x="3886200" y="1965960"/>
            <a:ext cx="2057400" cy="20574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2514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4532D"/>
                </a:solidFill>
                <a:latin typeface="Aptos"/>
              </a:rPr>
              <a:t>Núcleo de
integración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1874519"/>
            <a:ext cx="576072" cy="1097281"/>
          </a:xfrm>
          <a:prstGeom prst="line">
            <a:avLst/>
          </a:prstGeom>
          <a:ln w="1905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291840" y="2971800"/>
            <a:ext cx="576072" cy="320040"/>
          </a:xfrm>
          <a:prstGeom prst="line">
            <a:avLst/>
          </a:prstGeom>
          <a:ln w="1905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91840" y="2971800"/>
            <a:ext cx="576072" cy="1737360"/>
          </a:xfrm>
          <a:prstGeom prst="line">
            <a:avLst/>
          </a:prstGeom>
          <a:ln w="1905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0" y="1508760"/>
            <a:ext cx="18288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6916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Datos listos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011680"/>
            <a:ext cx="182880" cy="45720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1828800"/>
            <a:ext cx="182880" cy="6400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645920"/>
            <a:ext cx="182880" cy="82296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874519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KPI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1325880"/>
            <a:ext cx="29260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32520" y="1508760"/>
            <a:ext cx="265176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167335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4532D"/>
                </a:solidFill>
                <a:latin typeface="Aptos"/>
              </a:rPr>
              <a:t>WhatsApp · Greetings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1488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¿Cómo estuvo tu turno hoy?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514600"/>
            <a:ext cx="1051560" cy="38404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2615184"/>
            <a:ext cx="996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🙂 Muy bien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2408" y="2514600"/>
            <a:ext cx="10515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615184"/>
            <a:ext cx="996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🙂 Bien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7968" y="3063240"/>
            <a:ext cx="10515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3163824"/>
            <a:ext cx="996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😐 Regular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22408" y="3063240"/>
            <a:ext cx="10515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3163824"/>
            <a:ext cx="996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☹ Difícil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79476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Aptos"/>
              </a:rPr>
              <a:t>Ejemplos de pulsos cortos: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04164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ptos"/>
              </a:rPr>
              <a:t>• ¿Tuviste lo necesario para trabajar bien hoy?
• ¿Cómo estuvo el ambiente del equipo?
• ¿Recomendarías tu sede esta semana?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4892040"/>
            <a:ext cx="2240280" cy="38404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5001768"/>
            <a:ext cx="19202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Escribe un mensaje…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669280"/>
            <a:ext cx="1083564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852160"/>
            <a:ext cx="10424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ptos"/>
              </a:rPr>
              <a:t>Nota de producto: si existe integración automática con POS / MCP, la carga manual puede quedar en segundo plano u ocultarse en el MVP.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Pulsos por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Render del canal conversacional para recoger clima y percepción con preguntas muy cortas.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463040"/>
            <a:ext cx="329184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6420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4532D"/>
                </a:solidFill>
                <a:latin typeface="Aptos"/>
              </a:rPr>
              <a:t>Greetings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¿Cómo estuvo tu turno hoy? 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514600"/>
            <a:ext cx="1234440" cy="38404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24328"/>
            <a:ext cx="1143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ptos"/>
              </a:rPr>
              <a:t>Muy bien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51460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624328"/>
            <a:ext cx="1143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ptos"/>
              </a:rPr>
              <a:t>Bien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081528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91256"/>
            <a:ext cx="1143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ptos"/>
              </a:rPr>
              <a:t>Regular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081528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191256"/>
            <a:ext cx="1143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ptos"/>
              </a:rPr>
              <a:t>Difícil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94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ptos"/>
              </a:rPr>
              <a:t>¿Tuviste lo necesario para trabajar bien hoy?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187952"/>
            <a:ext cx="777240" cy="34747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279392"/>
            <a:ext cx="7772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Sí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7128" y="4187952"/>
            <a:ext cx="77724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7128" y="4279392"/>
            <a:ext cx="7772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Parcial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9816" y="4187952"/>
            <a:ext cx="77724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9816" y="4279392"/>
            <a:ext cx="7772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Aptos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3659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ptos"/>
              </a:rPr>
              <a:t>¿Cómo estuvo el ambiente del equipo?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5084064"/>
            <a:ext cx="841248" cy="34747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175503"/>
            <a:ext cx="8412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 i="0">
                <a:solidFill>
                  <a:srgbClr val="1F2937"/>
                </a:solidFill>
                <a:latin typeface="Aptos"/>
              </a:rPr>
              <a:t>Bueno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5084064"/>
            <a:ext cx="84124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5175503"/>
            <a:ext cx="8412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 i="0">
                <a:solidFill>
                  <a:srgbClr val="1F2937"/>
                </a:solidFill>
                <a:latin typeface="Aptos"/>
              </a:rPr>
              <a:t>Normal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5084064"/>
            <a:ext cx="84124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5175503"/>
            <a:ext cx="8412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 i="0">
                <a:solidFill>
                  <a:srgbClr val="1F2937"/>
                </a:solidFill>
                <a:latin typeface="Aptos"/>
              </a:rPr>
              <a:t>Tenso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1325880"/>
            <a:ext cx="61722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16916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Criterios del canal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103120"/>
            <a:ext cx="5394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Preguntas cortas y de respuesta inmediata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Lenguaje simple, cero fricción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Apto para captura de pulso diario o semanal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Debe poder alimentar dashboards y predictivo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886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Uso esperado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279392"/>
            <a:ext cx="5303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Complementar datos de POS y productividad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Detectar señales tempranas de clima o fatiga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Cruzar respuestas con sede, departamento y empleado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4532D"/>
                </a:solidFill>
                <a:latin typeface="Aptos"/>
              </a:rPr>
              <a:t>Módulo 2 · Visualización / gestión del clima laboral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5120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Cruza pulsos y productividad para tomar decisiones.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15568"/>
            <a:ext cx="1508760" cy="420624"/>
          </a:xfrm>
          <a:prstGeom prst="roundRect">
            <a:avLst/>
          </a:prstGeom>
          <a:solidFill>
            <a:srgbClr val="16653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6368"/>
            <a:ext cx="1508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Sede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115568"/>
            <a:ext cx="1874519" cy="420624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166368"/>
            <a:ext cx="18745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Departamento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115568"/>
            <a:ext cx="1600200" cy="420624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66368"/>
            <a:ext cx="1600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Empleado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115568"/>
            <a:ext cx="11887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166368"/>
            <a:ext cx="11887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Aptos"/>
              </a:rPr>
              <a:t>Período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65836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Puntuación de clima laboral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ptos"/>
              </a:rPr>
              <a:t>Comparativa por sede entre períodos.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4480560"/>
            <a:ext cx="5669280" cy="0"/>
          </a:xfrm>
          <a:prstGeom prst="line">
            <a:avLst/>
          </a:prstGeom>
          <a:ln w="1524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1560" y="2697480"/>
            <a:ext cx="0" cy="1783080"/>
          </a:xfrm>
          <a:prstGeom prst="line">
            <a:avLst/>
          </a:prstGeom>
          <a:ln w="1524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" y="3143250.0"/>
            <a:ext cx="5669280" cy="0.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1560" y="3589020.0"/>
            <a:ext cx="5669280" cy="0.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1560" y="4034790.0"/>
            <a:ext cx="5669280" cy="0.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4088" y="452628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ptos"/>
              </a:rPr>
              <a:t>Sede Norte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3848" y="452628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ptos"/>
              </a:rPr>
              <a:t>Sede Centro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3608" y="452628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ptos"/>
              </a:rPr>
              <a:t>Sede Sur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52628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ptos"/>
              </a:rPr>
              <a:t>Sede 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74320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15468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ptos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6616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97764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8912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2919222"/>
            <a:ext cx="91440" cy="91440"/>
          </a:xfrm>
          <a:prstGeom prst="ellipse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95600" y="4131716"/>
            <a:ext cx="91440" cy="91440"/>
          </a:xfrm>
          <a:prstGeom prst="ellipse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51560.0" y="2964942.0"/>
            <a:ext cx="1889760.0" cy="1212494.4"/>
          </a:xfrm>
          <a:prstGeom prst="line">
            <a:avLst/>
          </a:prstGeom>
          <a:ln w="27940">
            <a:solidFill>
              <a:srgbClr val="145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785360" y="3810762"/>
            <a:ext cx="91440" cy="91440"/>
          </a:xfrm>
          <a:prstGeom prst="ellipse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2941320.0" y="3856482.0"/>
            <a:ext cx="1889760.0" cy="320954.3999999999"/>
          </a:xfrm>
          <a:prstGeom prst="line">
            <a:avLst/>
          </a:prstGeom>
          <a:ln w="27940">
            <a:solidFill>
              <a:srgbClr val="145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675120" y="3329330"/>
            <a:ext cx="91440" cy="91440"/>
          </a:xfrm>
          <a:prstGeom prst="ellipse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4831080.0" y="3375050.4"/>
            <a:ext cx="1889760.0" cy="481431.6000000001"/>
          </a:xfrm>
          <a:prstGeom prst="line">
            <a:avLst/>
          </a:prstGeom>
          <a:ln w="27940">
            <a:solidFill>
              <a:srgbClr val="145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05840" y="3953408"/>
            <a:ext cx="91440" cy="91440"/>
          </a:xfrm>
          <a:prstGeom prst="ellipse">
            <a:avLst/>
          </a:prstGeom>
          <a:solidFill>
            <a:srgbClr val="6B967A"/>
          </a:solidFill>
          <a:ln>
            <a:solidFill>
              <a:srgbClr val="6B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95600" y="3757269"/>
            <a:ext cx="91440" cy="91440"/>
          </a:xfrm>
          <a:prstGeom prst="ellipse">
            <a:avLst/>
          </a:prstGeom>
          <a:solidFill>
            <a:srgbClr val="6B967A"/>
          </a:solidFill>
          <a:ln>
            <a:solidFill>
              <a:srgbClr val="6B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1051560.0" y="3802989.6"/>
            <a:ext cx="1889760.0" cy="196138.7999999998"/>
          </a:xfrm>
          <a:prstGeom prst="line">
            <a:avLst/>
          </a:prstGeom>
          <a:ln w="27940">
            <a:solidFill>
              <a:srgbClr val="6B9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785360" y="4149547"/>
            <a:ext cx="91440" cy="91440"/>
          </a:xfrm>
          <a:prstGeom prst="ellipse">
            <a:avLst/>
          </a:prstGeom>
          <a:solidFill>
            <a:srgbClr val="6B967A"/>
          </a:solidFill>
          <a:ln>
            <a:solidFill>
              <a:srgbClr val="6B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941320.0" y="3802989.6"/>
            <a:ext cx="1889760.0" cy="392277.6000000001"/>
          </a:xfrm>
          <a:prstGeom prst="line">
            <a:avLst/>
          </a:prstGeom>
          <a:ln w="27940">
            <a:solidFill>
              <a:srgbClr val="6B9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675120" y="3757269"/>
            <a:ext cx="91440" cy="91440"/>
          </a:xfrm>
          <a:prstGeom prst="ellipse">
            <a:avLst/>
          </a:prstGeom>
          <a:solidFill>
            <a:srgbClr val="6B967A"/>
          </a:solidFill>
          <a:ln>
            <a:solidFill>
              <a:srgbClr val="6B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831080.0" y="3802989.6"/>
            <a:ext cx="1889760.0" cy="392277.6000000001"/>
          </a:xfrm>
          <a:prstGeom prst="line">
            <a:avLst/>
          </a:prstGeom>
          <a:ln w="27940">
            <a:solidFill>
              <a:srgbClr val="6B9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063240" y="2971800"/>
            <a:ext cx="1097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3108960"/>
            <a:ext cx="8229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Aptos"/>
              </a:rPr>
              <a:t>Sede Centro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31012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Período 2: 24
Período 1: 36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1783080"/>
            <a:ext cx="42976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Resultados por sede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2423160"/>
            <a:ext cx="640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Aptos"/>
              </a:rPr>
              <a:t>Sede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2423160"/>
            <a:ext cx="640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Aptos"/>
              </a:rP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423160"/>
            <a:ext cx="640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Aptos"/>
              </a:rP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2423160"/>
            <a:ext cx="640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Aptos"/>
              </a:rPr>
              <a:t>Var.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2697480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ptos"/>
              </a:rPr>
              <a:t>Sede Norte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2697480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2697480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2697480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  <a:latin typeface="Aptos"/>
              </a:rPr>
              <a:t>+267%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3017520"/>
            <a:ext cx="3840480" cy="2743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3044952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ptos"/>
              </a:rPr>
              <a:t>Sede Centro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3044952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044952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3044952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  <a:latin typeface="Aptos"/>
              </a:rPr>
              <a:t>-33%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3392424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ptos"/>
              </a:rPr>
              <a:t>Sede Sur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3392424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3392424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3392424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  <a:latin typeface="Aptos"/>
              </a:rPr>
              <a:t>+217%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3739896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ptos"/>
              </a:rPr>
              <a:t>Sede Este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15400" y="3739896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38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739896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ptos"/>
              </a:rPr>
              <a:t>63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3739896"/>
            <a:ext cx="9144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  <a:latin typeface="Aptos"/>
              </a:rPr>
              <a:t>+66%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16636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37667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Puntuación promedio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56692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53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5650992"/>
            <a:ext cx="548640" cy="219456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0" y="5678424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Aptos"/>
              </a:rPr>
              <a:t>+18%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" y="597103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vs. período anterior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34640" y="516636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17520" y="537667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Sede más activa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56692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Sede Norte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17520" y="597103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Mayor participación en pulsos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74920" y="516636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57800" y="537667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Área de mejora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57800" y="56692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Sede Centro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09360" y="5650992"/>
            <a:ext cx="548640" cy="219456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9360" y="5678424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Aptos"/>
              </a:rPr>
              <a:t>-33%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57800" y="5971032"/>
            <a:ext cx="1554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Requiere atención prioritaria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0" y="4315968"/>
            <a:ext cx="4297680" cy="1993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43800" y="455371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"/>
              </a:rPr>
              <a:t>Recomendación de IA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61320" y="4526280"/>
            <a:ext cx="868680" cy="237744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61320" y="4553712"/>
            <a:ext cx="8686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Aptos"/>
              </a:rPr>
              <a:t>Sede Centro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43800" y="48920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ptos"/>
              </a:rPr>
              <a:t>La puntuación de la Sede Centro disminuyó 33%.
Se observa una baja en comunicación y reconocimiento.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43800" y="5468112"/>
            <a:ext cx="3566160" cy="530352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99248" y="562356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ptos"/>
              </a:rPr>
              <a:t>Reforzar comunicación interna y visibilizar logros.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503920" y="5870448"/>
            <a:ext cx="1600200" cy="347472"/>
          </a:xfrm>
          <a:prstGeom prst="roundRect">
            <a:avLst/>
          </a:prstGeom>
          <a:solidFill>
            <a:srgbClr val="16653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03920" y="5921248"/>
            <a:ext cx="1600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Ver acciones 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Módulo 3 · Modelo predictivo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Estima qué tan probable es que un empleado se vaya y sugiere acciones.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50292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ptos"/>
              </a:rPr>
              <a:t>El modelo debe mostrar el resultado sin complejidad técnica:
variables relevantes, semáforo de riesgo y recomendación accionable.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56032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35024"/>
            <a:ext cx="20116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ptos"/>
              </a:rPr>
              <a:t>Sede · Todas las sedes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70432"/>
            <a:ext cx="475488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335024"/>
            <a:ext cx="4114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Buscar empleado por nombre o ID…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170432"/>
            <a:ext cx="315468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29844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María Fernanda López · Sede Centro · Ventas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ptos"/>
              </a:rPr>
              <a:t>Factores que influyen en la predicción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ptos"/>
              </a:rPr>
              <a:t>Variables visibles para interpretación del riesgo.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Rendimiento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535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72%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2670048"/>
            <a:ext cx="685800" cy="256032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EF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69748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Medio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55848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355848"/>
            <a:ext cx="1274673" cy="10972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Ligeramente por debajo del promedio.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514600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Asistencia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9535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85%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670048"/>
            <a:ext cx="685800" cy="25603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69748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Bajo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3355848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54680" y="3355848"/>
            <a:ext cx="1274673" cy="10972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5204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Buena asistencia en los últimos 3 meses.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514600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651760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Pulso del equipo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9535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62%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2670048"/>
            <a:ext cx="685800" cy="256032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EF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69748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Medio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355848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0" y="3355848"/>
            <a:ext cx="1274673" cy="10972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35204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Menor conexión con su equipo.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087368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224528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Vacantes similares en la zona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Alta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4242816"/>
            <a:ext cx="685800" cy="256032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4270248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Alto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928616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2960" y="4928616"/>
            <a:ext cx="1274673" cy="10972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093208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Hay más oportunidades en el mercado local.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0" y="4087368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4224528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Antigüedad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1.8 años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4242816"/>
            <a:ext cx="685800" cy="25603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4270248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Bajo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54680" y="4928616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154680" y="4928616"/>
            <a:ext cx="1274673" cy="10972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80" y="5093208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Menor permanencia que el promedio.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49240" y="4087368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4224528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Tendencia de ventas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-12%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29400" y="4242816"/>
            <a:ext cx="685800" cy="256032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EF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9400" y="4270248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ptos"/>
              </a:rPr>
              <a:t>Medio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4928616"/>
            <a:ext cx="1874520" cy="109728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86400" y="4928616"/>
            <a:ext cx="1274673" cy="10972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0" y="5093208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Disminución en los últimos 3 meses.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6640" y="1828800"/>
            <a:ext cx="4251960" cy="4480560"/>
          </a:xfrm>
          <a:prstGeom prst="roundRect">
            <a:avLst/>
          </a:prstGeom>
          <a:solidFill>
            <a:srgbClr val="FFFB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208483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Predicción de salida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469880" y="2029968"/>
            <a:ext cx="914400" cy="256032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9880" y="2057400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DC2626"/>
                </a:solidFill>
                <a:latin typeface="Aptos"/>
              </a:rPr>
              <a:t>ALTO RIESGO</a:t>
            </a:r>
          </a:p>
        </p:txBody>
      </p:sp>
      <p:sp>
        <p:nvSpPr>
          <p:cNvPr id="65" name="Oval 64"/>
          <p:cNvSpPr/>
          <p:nvPr/>
        </p:nvSpPr>
        <p:spPr>
          <a:xfrm>
            <a:off x="7818120" y="2651760"/>
            <a:ext cx="1554480" cy="1554480"/>
          </a:xfrm>
          <a:prstGeom prst="ellipse">
            <a:avLst/>
          </a:prstGeom>
          <a:solidFill>
            <a:srgbClr val="FFFFFF"/>
          </a:solidFill>
          <a:ln w="406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3296" y="31546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Aptos"/>
              </a:rPr>
              <a:t>78%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65008" y="3529584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ptos"/>
              </a:rPr>
              <a:t>Probabilidad
de salida</a:t>
            </a:r>
          </a:p>
        </p:txBody>
      </p:sp>
      <p:sp>
        <p:nvSpPr>
          <p:cNvPr id="68" name="Oval 67"/>
          <p:cNvSpPr/>
          <p:nvPr/>
        </p:nvSpPr>
        <p:spPr>
          <a:xfrm>
            <a:off x="9646920" y="2816352"/>
            <a:ext cx="118872" cy="118872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48088" y="2834640"/>
            <a:ext cx="11887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ptos"/>
              </a:rPr>
              <a:t>Alto riesgo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2834640"/>
            <a:ext cx="4114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  <a:latin typeface="Aptos"/>
              </a:rPr>
              <a:t>78%</a:t>
            </a:r>
          </a:p>
        </p:txBody>
      </p:sp>
      <p:sp>
        <p:nvSpPr>
          <p:cNvPr id="71" name="Oval 70"/>
          <p:cNvSpPr/>
          <p:nvPr/>
        </p:nvSpPr>
        <p:spPr>
          <a:xfrm>
            <a:off x="9646920" y="3273552"/>
            <a:ext cx="118872" cy="118872"/>
          </a:xfrm>
          <a:prstGeom prst="ellipse">
            <a:avLst/>
          </a:prstGeom>
          <a:solidFill>
            <a:srgbClr val="CA8A04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48088" y="3291840"/>
            <a:ext cx="11887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ptos"/>
              </a:rPr>
              <a:t>Riesgo medio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3291840"/>
            <a:ext cx="4114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CA8A04"/>
                </a:solidFill>
                <a:latin typeface="Aptos"/>
              </a:rPr>
              <a:t>15%</a:t>
            </a:r>
          </a:p>
        </p:txBody>
      </p:sp>
      <p:sp>
        <p:nvSpPr>
          <p:cNvPr id="74" name="Oval 73"/>
          <p:cNvSpPr/>
          <p:nvPr/>
        </p:nvSpPr>
        <p:spPr>
          <a:xfrm>
            <a:off x="9646920" y="3730752"/>
            <a:ext cx="118872" cy="118872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48088" y="3749039"/>
            <a:ext cx="11887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ptos"/>
              </a:rPr>
              <a:t>Bajo riesgo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0" y="3749039"/>
            <a:ext cx="4114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66534"/>
                </a:solidFill>
                <a:latin typeface="Aptos"/>
              </a:rPr>
              <a:t>7%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35240" y="4160520"/>
            <a:ext cx="3749039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0" y="4389120"/>
            <a:ext cx="12801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Recomendación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464515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Aptos"/>
              </a:rPr>
              <a:t>Intervenir esta semana.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495604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ptos"/>
              </a:rPr>
              <a:t>Tener conversación 1:1, revisar compensación
y validar clima laboral.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565099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Acciones sugeridas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635240" y="5870448"/>
            <a:ext cx="1078992" cy="310896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35240" y="5921248"/>
            <a:ext cx="1078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Aptos"/>
              </a:rPr>
              <a:t>Agendar 1:1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97112" y="5870448"/>
            <a:ext cx="1444752" cy="310896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97112" y="5921248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Aptos"/>
              </a:rPr>
              <a:t>Revisar compensación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158984" y="5870448"/>
            <a:ext cx="1280160" cy="310896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58984" y="592124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Aptos"/>
              </a:rPr>
              <a:t>Fortalecer clima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Aptos"/>
              </a:rPr>
              <a:t>Insumo para creación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Criterios y decisiones visuales para pasar esto a diseño / desarrollo.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035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UX / 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6634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Inicio del administrador antes de ver análisis detallado.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Pantalla overview con tres módulos como mapa del sistema.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Transición fluida tipo zoom entre vistas, no páginas “cortadas”.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Jerarquía analítica persistente: sede → departamento → empleado.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Cada pantalla debe tener un call to action o recomendación clara.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El contexto seleccionado debe cambiar la recomendación automáticamente.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57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6420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Aptos"/>
              </a:rPr>
              <a:t>Contenido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29968"/>
            <a:ext cx="4526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Módulo 1: POS, productividad y pulsos por WhatsApp.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La carga manual puede coexistir con integración automática.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Pulsos por WhatsApp con preguntas muy cortas y respuestas rápidas.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Módulo 2: gráfica + tabla + KPIs + recomendación.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Módulo 3: variables de influencia + porcentaje de salida + alertas.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El predictivo debe explicarse con lenguaje simple, no técnico.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989320"/>
            <a:ext cx="108356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6117336"/>
            <a:ext cx="103327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Aptos"/>
              </a:rPr>
              <a:t>Este deck es editable y está pensado como base de diseño / referencia para continuar la creación del software Greetings.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